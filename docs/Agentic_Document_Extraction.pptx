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2" r:id="rId2"/>
    <p:sldId id="257" r:id="rId3"/>
    <p:sldId id="264" r:id="rId4"/>
    <p:sldId id="265" r:id="rId5"/>
    <p:sldId id="277" r:id="rId6"/>
    <p:sldId id="259" r:id="rId7"/>
    <p:sldId id="275" r:id="rId8"/>
    <p:sldId id="262" r:id="rId9"/>
    <p:sldId id="276" r:id="rId10"/>
    <p:sldId id="268" r:id="rId11"/>
    <p:sldId id="270" r:id="rId12"/>
    <p:sldId id="271" r:id="rId13"/>
    <p:sldId id="273" r:id="rId14"/>
    <p:sldId id="27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9"/>
    <p:restoredTop sz="94618"/>
  </p:normalViewPr>
  <p:slideViewPr>
    <p:cSldViewPr snapToGrid="0" snapToObjects="1">
      <p:cViewPr varScale="1">
        <p:scale>
          <a:sx n="262" d="100"/>
          <a:sy n="262" d="100"/>
        </p:scale>
        <p:origin x="5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915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 tuneable state lives in YAML with strict precedence: CLI flags &gt; run_config.yml &gt; ENV vars (IVL_ prefix) &gt; dataclass defaults
• No hardcoded values in Python code — every magic number has a YAML home
• This means every agentic decision is configurable without code changes
• Prompts are version-controlled separately from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73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architectural choice follows Observe → Reason → Act
• The VLM is a component inside feedback loops — its outputs drive pipeline decisions, which determine what the model sees next
• This separates "run a prompt" from "run an agent"
• Four concrete patterns implement this today, shown in the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Critical implementation detail: cleanup MUST be outside the except block
• Inside except, Python's traceback holds references to all intermediate activation tensors from the failed forward pass
• torch.cuda.empty_cache() inside except is a no-op — tensors are still referenced
• Solution: set oom=True flag, exit except, then do cleanup
• Three-level resilience stack: batch halving → sequential fallback (batch_size=1) → _resilient_generate() (3 attempts with minimal gen config)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MultiGPUOrchestrator distributes images across GPUs via --num-gpus N
• Each GPU gets an independent model replica; models loaded sequentially (avoids transformers import races)
• Inference runs fully parallel via ThreadPoolExecutor — PyTorch releases GIL during CUDA kernels → true GPU parallelism, no IPC overhead
• Contiguous partitioning: equal chunks, results concatenate back in order
• --num-gpus 0 auto-detects all available GPUs; single GPU bypasses orchestrator entirely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30C3C-23C0-BB33-C635-5703E657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DC1D9-3A82-DCE3-231D-A4835DA12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11B33-211F-75E4-3BD2-B3FB5311B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MultiGPUOrchestrator distributes images across GPUs via --num-gpus N
• Each GPU gets an independent model replica; models loaded sequentially (avoids transformers import races)
• Inference runs fully parallel via ThreadPoolExecutor — PyTorch releases GIL during CUDA kernels → true GPU parallelism, no IPC overhead
• Contiguous partitioning: equal chunks, results concatenate back in order
• --num-gpus 0 auto-detects all available GPUs; single GPU bypasses orchestrator entirely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895CB-1EBB-EFC1-89D0-B2F26F386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98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Observe: Send image with short detection prompt; VLM returns free-text classification. Cheap generation — greedy decoding, max_new_tokens=200, temperature=0.1
• Reason: Three-stage cascade resolves to canonical type — exact substring match → keyword fallback → UNIVERSAL default
• Act: Canonical type drives extraction prompt, field list, token budget, and processing path (bank → multi-turn)
• Key insight: the same VLM's first output literally selects its own second prompt — simplest agentic pattern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2688-880B-CBC7-064F-E2E3970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8A151-A2A2-82B4-68FD-66E2DF2BD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4638E-3A13-AAB8-8498-72267FF77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Turn 0: Ask VLM "what column headers do you see?" → model returns actual headers
• ColumnMatcher.match() maps detected headers to semantic roles using pattern matching against bank_column_patterns.yaml
• The resulting ColumnMapping determines which extraction strategy to use
• Turn 1: Extraction prompt is templated with the actual detected column names — every prompt is document-specific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78C4C-C0C9-EAAB-E821-14A8BB809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48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 strategies based on what columns exist: BALANCE_DESCRIPTION (richest — enables Pattern 4), AMOUNT_DESCRIPTION, DEBIT_CREDIT_DESCRIPTION, TABLE_EXTRACTION (fallback)
• Key: model is told to look for "Balance" because Turn 0 confirmed it exists — not because we assumed it would
• Multi-turn beats single-turn for: variable column layouts, debit/credit ambiguity, long transaction tables, balance column presence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E7C6-5015-482F-2B5A-E086491E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33896-3AF0-95D7-6AC9-10CBFA7E1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CF971-14D7-503D-9C88-1C14F67C3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extracted rows in chronological order, maintaining sliding prev_balance
• For each row: compute balance_delta, compare delta's sign against VLM's classification
• Three possible corrections: Confirm (delta matches), Swap (value in wrong column), Derive (set from delta as last resort)
• Prerequisite: balance arithmetic requires chronological ordering — pipeline checks and sorts if reverse-chronological
• Pattern most likely to generalize: any domain with checkable invariants can use post-extraction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C6632-10C5-F687-BB13-BDFE82679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84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Row 2: delta = 850 - 1000 = -150 (negative = debit). VLM put $150 in Credit → SWAP to Debit
• Row 3: delta = 2850 - 850 = +2000 (positive = credit). VLM put $2,000 in Credit → Confirmed correct
• Key: pipeline treats VLM extraction as a hypothesis, not ground truth
• Self-verification using domain invariants (accounting math) — zero additional model 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Layer 1 — Per-Field F1: Position-aware comparison adapted to field type (string, boolean, date, monetary, list)
• Layer 2 — Per-Image: Unweighted mean across all fields. Every field counts equally; N varies 9–16 by doc type
• Layer 3 — Per-Model (headline): Unweighted mean across all images. Every document contributes equally regardless of field count
• Formula: Headline = mean across images of (mean across fields of (position-aware F1))
• A mean of means — equal weight per image, equal weight per field within each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Simpson's Paradox: a trend in individual groups reverses when combined due to unequal group sizes
• Example: 100 invoices at 95% + 10 bank statements at 20%. Per-field pooling: (1400×0.95 + 50×0.20)/1450 = 92.4% — hides the critical bank failure
• Per-image aggregation: mean of (100×0.95 + 10×0.20) / 110 = 88.2% — every document weighted equally, failure is visible
• Five justifications for per-image: operational relevance (unit of work = document), equal representation across doc types, avoiding Simpson's Paradox, consistent model comparison, alignment with downstream use
• Per-field analysis still serves diagnostics: prompt engineering, model comparison, schema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Summary of all four patterns: Dynamic Routing, Multi-Turn Bank, OOM Fallback, Balance Verification
• Key architectural decisions and their agentic justification:
  - Two-phase pipeline: model's first observation parameterizes its second action
  - Greedy decoding (temp=0): agents need deterministic observations
  - YAML-driven everything: agent state must be inspectable and tuneable
  - Position-aware F1: evaluation reflects actual output ordering
  - Threads over processes for multi-GPU: GIL release during CUDA kernels makes threads sufficient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 capabilities not yet implemented — each is a natural extension of existing patterns
• Re-prompting on low confidence: detection returns confidence but low confidence just uses fallback type
• Tool use: VLM has no access to calculators, databases, or web search — all verification is Python code
• No explicit chain-of-thought planning — strategy selection is deterministic code, not model reasoning
• No multi-model consensus — support InternVL3 and Llama but never cross-check on the same document
• No iterative refinement — malformed output parsed as-is, never retried with corrective prompt
• No human-in-the-loop escalation — low-confidence results not flagged for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B3BC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5C5CE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0"/>
            <a:ext cx="1828800" cy="36576"/>
          </a:xfrm>
          <a:prstGeom prst="rect">
            <a:avLst/>
          </a:prstGeom>
          <a:solidFill>
            <a:srgbClr val="7B7BE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1: Human Readable Configuration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22960"/>
            <a:ext cx="8229600" cy="73152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737360"/>
          <a:ext cx="8229600" cy="170992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Config Source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Controls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config/run_config.yml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Model path, dtype, max_tiles, batch sizes, generation params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config/field_definitions.yaml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Fields per doc type, min_tokens, evaluation thresholds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prompts/*.yaml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Detection, extraction, and bank prompts per 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config/bank_column_patterns.yaml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Header-to-semantic-column matching patterns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12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Document Extraction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1A1A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</a:t>
            </a:r>
            <a:r>
              <a:rPr lang="en-US" sz="14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 →  </a:t>
            </a: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</a:t>
            </a:r>
            <a:r>
              <a:rPr lang="en-US" sz="14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it  →  </a:t>
            </a:r>
            <a:r>
              <a:rPr lang="en-US" sz="1600" b="1" dirty="0">
                <a:solidFill>
                  <a:srgbClr val="3B3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</a:t>
            </a:r>
            <a:r>
              <a:rPr lang="en-US" sz="14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VLM is not a black box — it is a component inside feedback loops.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374325"/>
              </p:ext>
            </p:extLst>
          </p:nvPr>
        </p:nvGraphicFramePr>
        <p:xfrm>
          <a:off x="457200" y="2011680"/>
          <a:ext cx="8229600" cy="2148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Observe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3BC6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Self-Correcting OOM Fallback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CUDA OutOfMemoryError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Recursively halve batch, retry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3363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3BC6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Dynamic Routing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Document classification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Select type-specific prompt, fields, token budget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3BC6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Multi-Turn Bank Extraction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Column headers (Turn 0)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Template Turn 1 prompt with detected column names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3BC6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Balance Self-Verification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Extracted values vs balance column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Swap or derive correct debit/credit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2: OOM Fallback: Recursive Batch Halving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438912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0" y="868680"/>
            <a:ext cx="3931920" cy="2011680"/>
          </a:xfrm>
          <a:prstGeom prst="rect">
            <a:avLst/>
          </a:prstGeom>
          <a:solidFill>
            <a:srgbClr val="1A1A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120640" y="9601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cleanup outside except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an except block, Python's traceback holds references to all intermediate activation tensors.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torch.cuda.empty_cache()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except is a no-op — tensors are still referenced.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oom=True, check after the block closes.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937760" y="31089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206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stack: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20640" y="35204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Batch halving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Recursive split until fit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Sequential fallback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batch_size=1 → per-image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_resilient_generate()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 attempts with minimal gen config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Multi-GPU Architecture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475488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0" y="868680"/>
            <a:ext cx="35661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0" y="96012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releases GIL during CUDA kernels → true GPU parallelism, no IPC overhead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Loading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behind a lock to avoid transformers import races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Partitioning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chunks; results concatenate back in order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--num-gpus 0 auto-detects all available. Single GPU bypasses orchestrator.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D86F7-C303-2B7C-4147-4BFC0572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FF098B-C985-9D43-16E4-3F93805F7E76}"/>
              </a:ext>
            </a:extLst>
          </p:cNvPr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Multi-GPU Architecture</a:t>
            </a:r>
            <a:endParaRPr lang="en-US" sz="22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A9C5787-5E22-FDBB-0C0B-DD8BC49F4D39}"/>
              </a:ext>
            </a:extLst>
          </p:cNvPr>
          <p:cNvSpPr/>
          <p:nvPr/>
        </p:nvSpPr>
        <p:spPr>
          <a:xfrm>
            <a:off x="5303520" y="868680"/>
            <a:ext cx="35661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EBE51A-E135-34E2-B79C-CABC85DF9FF4}"/>
              </a:ext>
            </a:extLst>
          </p:cNvPr>
          <p:cNvSpPr/>
          <p:nvPr/>
        </p:nvSpPr>
        <p:spPr>
          <a:xfrm>
            <a:off x="5486400" y="96012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releases GIL during CUDA kernels → true GPU parallelism, no IPC overhead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Loading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behind a lock to avoid transformers import races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Partitioning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chunks; results concatenate back in order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--num-gpus 0 auto-detects all available. Single GPU bypasses orchestrator.</a:t>
            </a:r>
            <a:endParaRPr lang="en-US" sz="1200" dirty="0"/>
          </a:p>
        </p:txBody>
      </p:sp>
      <p:pic>
        <p:nvPicPr>
          <p:cNvPr id="7" name="Picture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327BD99-DAEE-A35C-04C8-C1D2BF832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87" y="960120"/>
            <a:ext cx="2360549" cy="375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2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3. Dynamic Routing (Detect then Route)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457200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868680"/>
            <a:ext cx="3749040" cy="1280160"/>
          </a:xfrm>
          <a:prstGeom prst="rect">
            <a:avLst/>
          </a:prstGeom>
          <a:solidFill>
            <a:srgbClr val="1A1A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303520" y="960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Reason → Act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first output selects its own second prompt. One model call parameterizes another.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20640" y="237744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0352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drives: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834640"/>
          <a:ext cx="3383280" cy="12801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Extraction prompt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Type-specific from YAML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Field list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9–16 fields per 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Token budget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Scales with field 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Processing path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BANK → multi-turn (Pattern 2)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DD21-0CB7-B0E7-9F73-881F22CD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2A4B52-6542-42B5-4483-BC62240C33C3}"/>
              </a:ext>
            </a:extLst>
          </p:cNvPr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4: Multi-Turn Bank Extraction</a:t>
            </a:r>
            <a:endParaRPr lang="en-US" sz="22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39582E7-D290-2F07-106D-A3349AE55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366" y="921308"/>
            <a:ext cx="5001190" cy="387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6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Column-Driven Strategy Selection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Columns Detected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Balance + Debit/Credit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BALANCE_DESCRIPTION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Richest signal; enables Pattern 4 verification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Balance + Amount (no D/C)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AMOUNT_DESCRIPTION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Signed amounts; negative = withdrawal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Debit/Credit (no balance)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DEBIT_CREDIT_DESCRIPTION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Direct extraction; skips balance rows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None of the above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TABLE_EXTRACTION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Generic schema fallback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337560"/>
            <a:ext cx="8229600" cy="822960"/>
          </a:xfrm>
          <a:prstGeom prst="rect">
            <a:avLst/>
          </a:prstGeom>
          <a:solidFill>
            <a:srgbClr val="1A1A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r>
              <a:rPr lang="en-US" sz="12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prompt is document-specific. The model is told to look for "Balance" because Turn 0 confirmed that column exists — not because we assumed it would.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CFCD-676A-0276-60F1-DD6FA582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78725E-28D5-CCA8-1DE3-228201F3EB41}"/>
              </a:ext>
            </a:extLst>
          </p:cNvPr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5: Balance Verification Flowchart</a:t>
            </a:r>
            <a:endParaRPr lang="en-US" sz="2200" dirty="0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35B1498E-03EE-F05B-7D49-158E56437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620" y="938442"/>
            <a:ext cx="3189534" cy="370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587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Correction: Worked Example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extracts (with error):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931920" cy="12344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Debit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Credit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Balance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Opening Balance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Electric bill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</a:rPr>
                        <a:t>$150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Salary deposit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$2,850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B3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84632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output: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931920" cy="12344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Debit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Credit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Balance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Opening Balance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Electric bill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C5CE0"/>
                          </a:solidFill>
                        </a:rPr>
                        <a:t>$150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Salary deposit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$2,850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solidFill>
            <a:srgbClr val="1A1A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2834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2: </a:t>
            </a:r>
            <a:r>
              <a:rPr lang="en-US" sz="11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850 − 1000 = −150 (negative = debit).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put $150 in Credit.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→ Debit.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846320" y="2743200"/>
            <a:ext cx="3931920" cy="1005840"/>
          </a:xfrm>
          <a:prstGeom prst="rect">
            <a:avLst/>
          </a:prstGeom>
          <a:solidFill>
            <a:srgbClr val="1A1A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0" y="2834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3: </a:t>
            </a:r>
            <a:r>
              <a:rPr lang="en-US" sz="11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2850 − 850 = +2000 (positive = credit).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put $2,000 in Credit.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✓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0080" y="4069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Self-verification without extra inference: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treats VLM extraction as a hypothesis, not ground truth. Domain invariants (accounting math) verify and correct — zero additional model calls.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Evaluation: Three-Layer Aggregation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54864"/>
          </a:xfrm>
          <a:prstGeom prst="rect">
            <a:avLst/>
          </a:prstGeom>
          <a:solidFill>
            <a:srgbClr val="3B3B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Per-Field F1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Position-aware F1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extracted field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Type-specific comparison: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boolean, date,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monetary, list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651760" cy="54864"/>
          </a:xfrm>
          <a:prstGeom prst="rect">
            <a:avLst/>
          </a:prstGeom>
          <a:solidFill>
            <a:srgbClr val="5C5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Per-Image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mean(field_f1_scores)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 per field.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varies by doc 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(9–16 fields).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651760" cy="54864"/>
          </a:xfrm>
          <a:prstGeom prst="rect">
            <a:avLst/>
          </a:prstGeom>
          <a:solidFill>
            <a:srgbClr val="7B7B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Per-Model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mean(image_scores)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 per image.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counts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1A1A5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= </a:t>
            </a:r>
            <a:r>
              <a:rPr lang="en-US" sz="16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en-US" sz="14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images of (</a:t>
            </a:r>
            <a:r>
              <a:rPr lang="en-US" sz="16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en-US" sz="14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fields of (position-aware F1))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Per-Image? Simpson's Paradox Check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solidFill>
            <a:srgbClr val="24247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7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Paradox: </a:t>
            </a:r>
            <a:r>
              <a:rPr lang="en-US" sz="1200" dirty="0">
                <a:solidFill>
                  <a:srgbClr val="EE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 that appears in individual groups reverses when the groups are combined, because of unequal group sizes.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143786"/>
              </p:ext>
            </p:extLst>
          </p:nvPr>
        </p:nvGraphicFramePr>
        <p:xfrm>
          <a:off x="457200" y="1965960"/>
          <a:ext cx="8229600" cy="960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Document 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Fields / Doc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Field Scores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Invoices/Receipts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3BC6"/>
                          </a:solidFill>
                        </a:rPr>
                        <a:t>75%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Bank Statements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74C3C"/>
                          </a:solidFill>
                        </a:rPr>
                        <a:t>60%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461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3246120"/>
            <a:ext cx="402336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Pooling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1752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74.3%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(2380×0.75 + 125×0.60)/2505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Hides the poorer bank scores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32461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3246120"/>
            <a:ext cx="4023360" cy="54864"/>
          </a:xfrm>
          <a:prstGeom prst="rect">
            <a:avLst/>
          </a:prstGeom>
          <a:solidFill>
            <a:srgbClr val="3B3B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Aggregation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B3B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73.1%</a:t>
            </a:r>
            <a:endParaRPr lang="en-US" sz="2600" dirty="0"/>
          </a:p>
        </p:txBody>
      </p:sp>
      <p:sp>
        <p:nvSpPr>
          <p:cNvPr id="6" name="Text 14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(170x.75+25x.6)/195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377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document weighted equally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 → Reason → Act Across the </a:t>
            </a:r>
            <a:r>
              <a:rPr lang="en-US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ExtractionPipeline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186985"/>
              </p:ext>
            </p:extLst>
          </p:nvPr>
        </p:nvGraphicFramePr>
        <p:xfrm>
          <a:off x="457200" y="777240"/>
          <a:ext cx="822960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Observe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OOM Fallback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CUDA OOM error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Batch too large for VRAM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Recursively halve until fit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87622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Dynamic Routing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VLM classifies doc 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Map to canonical type via YAML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Select prompt, fields, token budget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Multi-Turn Bank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VLM reads column headers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ColumnMatcher maps to semantic roles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Template prompt with column names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Balance Verification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Values + balance column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Balance delta determines true 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Swap or derive debit/credit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Decisions</a:t>
            </a:r>
            <a:endParaRPr lang="en-US" sz="14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3533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Agentic Justification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Two-phase pipeline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Model's first observation parameterizes its second action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Greedy decoding (temp=0)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Agents need deterministic observations — variation hurts reasoning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YAML-driven everything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 state must be inspectable, tuneable, version-controlled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Position-aware F1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Evaluation reflects agent's actual output ordering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Don't Do (Yet)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Re-prompting on low confidence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has confidence, but low confidence just uses fallback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9144"/>
          </a:xfrm>
          <a:prstGeom prst="rect">
            <a:avLst/>
          </a:prstGeom>
          <a:solidFill>
            <a:srgbClr val="2424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has no access to calculators, databases, or web 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9144"/>
          </a:xfrm>
          <a:prstGeom prst="rect">
            <a:avLst/>
          </a:prstGeom>
          <a:solidFill>
            <a:srgbClr val="2424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chain-of-thought planning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selection is deterministic code, not model reasoning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9144"/>
          </a:xfrm>
          <a:prstGeom prst="rect">
            <a:avLst/>
          </a:prstGeom>
          <a:solidFill>
            <a:srgbClr val="2424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consensus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InternVL3 and Llama but never cross-check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680960" cy="9144"/>
          </a:xfrm>
          <a:prstGeom prst="rect">
            <a:avLst/>
          </a:prstGeom>
          <a:solidFill>
            <a:srgbClr val="2424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output parsed as-is, never retried with corrective prompt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7680960" cy="9144"/>
          </a:xfrm>
          <a:prstGeom prst="rect">
            <a:avLst/>
          </a:prstGeom>
          <a:solidFill>
            <a:srgbClr val="2424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results not flagged for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represents a natural extension of the patterns already in place.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2356</Words>
  <Application>Microsoft Macintosh PowerPoint</Application>
  <PresentationFormat>On-screen Show (16:9)</PresentationFormat>
  <Paragraphs>275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Document Extraction: Architecture &amp; Methodology</dc:title>
  <dc:subject>PptxGenJS Presentation</dc:subject>
  <dc:creator>Tod Nestor</dc:creator>
  <cp:lastModifiedBy>Tod Nestor</cp:lastModifiedBy>
  <cp:revision>8</cp:revision>
  <dcterms:created xsi:type="dcterms:W3CDTF">2026-02-24T01:28:48Z</dcterms:created>
  <dcterms:modified xsi:type="dcterms:W3CDTF">2026-02-24T02:50:03Z</dcterms:modified>
</cp:coreProperties>
</file>